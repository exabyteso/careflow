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  <p:bold r:id="rId14"/>
    </p:embeddedFont>
    <p:embeddedFont>
      <p:font typeface="Roboto Bold" panose="02000000000000000000" pitchFamily="2" charset="0"/>
      <p:regular r:id="rId15"/>
      <p:bold r:id="rId16"/>
    </p:embeddedFont>
    <p:embeddedFont>
      <p:font typeface="Roboto Slab" pitchFamily="2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401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17502"/>
            <a:ext cx="1826472" cy="287139"/>
          </a:xfrm>
          <a:prstGeom prst="roundRect">
            <a:avLst>
              <a:gd name="adj" fmla="val 7899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4879" y="1974155"/>
            <a:ext cx="22092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CAREFLOW PRETRIAGE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28024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Cutting Hospital Waiting Time Before Patients Reach the Triage Desk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33566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pre-triage system for emergency departments — built for hackathon validation, designed for real hospital scale.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2682"/>
            <a:ext cx="927275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3469" y="713680"/>
            <a:ext cx="133287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82365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Waiting-Room Crisis Is Measurable — and Worsening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28367" y="2360216"/>
            <a:ext cx="480484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4+ hrs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61475" y="3121422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ED Wait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3478907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many public hospitals across Uganda and Sub-Saharan Africa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58384" y="2360216"/>
            <a:ext cx="480484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91492" y="3121422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Non-Emergency Visits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191492" y="3478907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Mis-prioritized during peak hours, crowding out critical 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8367" y="4128691"/>
            <a:ext cx="480484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 in 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61475" y="4889897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Preventable Outcomes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475" y="5247382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Adverse events linked to delayed triage globally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58384" y="4128691"/>
            <a:ext cx="480484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91492" y="4889897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 Overcrowding Rise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191492" y="5247382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since 2020 across health systems worldwide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5678190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Triage nurses often manage </a:t>
            </a:r>
            <a:r>
              <a:rPr lang="en-US" sz="13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nurse : 20+ patients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during surges. Every minute of delay for stroke, sepsis, or trauma reduces survival odds. Staff burnout and "left without being seen" rates continue to climb.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70446"/>
            <a:ext cx="1352913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46503" y="912912"/>
            <a:ext cx="17924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12821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Manual Triage Creates a Bottleneck at the Front Door of Care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73684"/>
            <a:ext cx="6296860" cy="1003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8403" y="2334419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Prioritization at Entry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98403" y="2619573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 queue at registration before any clinical assessment — critical cases wait behind stable patients because acuity is unknown upfront.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83446"/>
            <a:ext cx="6296860" cy="10034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8403" y="3444180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Paper-Based, Slow Intake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98403" y="3729335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forms and verbal intake delay the first clinical touchpoint, compounding wait times at every step.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93208"/>
            <a:ext cx="6296860" cy="10034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403" y="4553942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Staff Can't Scale with Volume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98403" y="4839097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Hospitals cannot hire triage staff fast enough to match patient volume, leaving no real-time visibility on incoming acuity mix.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61475" y="5516265"/>
            <a:ext cx="6296860" cy="471190"/>
          </a:xfrm>
          <a:prstGeom prst="roundRect">
            <a:avLst>
              <a:gd name="adj" fmla="val 4513"/>
            </a:avLst>
          </a:prstGeom>
          <a:solidFill>
            <a:srgbClr val="0D3E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56" y="5673626"/>
            <a:ext cx="177200" cy="1416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2037" y="5657949"/>
            <a:ext cx="630420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pain: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Time-to-triage — not time-to-treatment — is where lives and throughput are lost.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6912"/>
            <a:ext cx="648478" cy="198239"/>
          </a:xfrm>
          <a:prstGeom prst="roundRect">
            <a:avLst>
              <a:gd name="adj" fmla="val 790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9756" y="736005"/>
            <a:ext cx="1101499" cy="12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31168"/>
            <a:ext cx="10868745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CareFlow PreTriage — Intake and Prioritization Before the Triage Desk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2426692"/>
            <a:ext cx="527513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Patient-Facing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720777"/>
            <a:ext cx="5275131" cy="592634"/>
          </a:xfrm>
          <a:prstGeom prst="rect">
            <a:avLst/>
          </a:prstGeom>
          <a:noFill/>
          <a:ln/>
        </p:spPr>
        <p:txBody>
          <a:bodyPr wrap="square" lIns="0" tIns="52216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Mobile/kiosk symptom intake in local language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Guided questions aligned to ESI &amp; local protocols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 check-in at entrance or pre-arrival link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1475" y="3403501"/>
            <a:ext cx="527513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Clinical Workflow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3697585"/>
            <a:ext cx="5275131" cy="592634"/>
          </a:xfrm>
          <a:prstGeom prst="rect">
            <a:avLst/>
          </a:prstGeom>
          <a:noFill/>
          <a:ln/>
        </p:spPr>
        <p:txBody>
          <a:bodyPr wrap="square" lIns="0" tIns="52216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AI-assisted acuity scoring with nurse override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priority queue fed to triage dashboard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Alerts for red-flag symptoms (chest pain, sepsis)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1475" y="4380309"/>
            <a:ext cx="527513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Hospital Ops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1475" y="4674394"/>
            <a:ext cx="5275131" cy="592634"/>
          </a:xfrm>
          <a:prstGeom prst="rect">
            <a:avLst/>
          </a:prstGeom>
          <a:noFill/>
          <a:ln/>
        </p:spPr>
        <p:txBody>
          <a:bodyPr wrap="square" lIns="0" tIns="52216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Throughput analytics &amp; peak-hour forecasting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with existing HIS via HL7 FHIR APIs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Deployable on tablets — no new hardware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439" y="1575693"/>
            <a:ext cx="4483782" cy="4483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726579"/>
            <a:ext cx="1259352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46503" y="769045"/>
            <a:ext cx="16988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PROPOSITION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984349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Faster Care for the Sickest Patients — Without Adding Headcount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61475" y="2029817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3156" y="2171502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30–50% Faster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3156" y="2456656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Reduction in time-to-triage for high-acuity cases (pilot target)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2903041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3156" y="3044726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2× Throughput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3156" y="3329880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Triage capacity during peak surges with the same staff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3776266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3156" y="3917950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 4 Weeks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3156" y="4203105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 deployment vs. 12–18 months for legacy ED systems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4649490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3156" y="4791174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Low CAPEX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3156" y="5076329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on phones &amp; tablets hospitals already own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1475" y="5536009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Consistent, protocol-driven prioritization reduces bias and error. Nurses focus on clinical confirmation — not repetitive data collection. Leadership gains live visibility to redeploy staff before queues break.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6976"/>
            <a:ext cx="933030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2159" y="772319"/>
            <a:ext cx="13612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SIZE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0498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Large Global Market, Focused Initial Beachhead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94867"/>
            <a:ext cx="4199924" cy="4200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640" y="2145209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TAM — $52B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86640" y="2502396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digital health &amp; hospital operations software (2026) — all hospitals with ED or outpatient triage workflows worldwide.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86640" y="305871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 — $6.8B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86640" y="3415903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 workflow, triage &amp; patient-flow software for hospitals 50+ beds in Africa, South Asia &amp; emerging markets (~12,000 addressable facilities).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6640" y="397222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SOM — $2.4M (Year 3)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86640" y="4329410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 hospital contracts at ~$60K avg. ACV across Uganda, Kenya &amp; Tanzania public and faith-based networks — conservative 0.3% SAM penetration.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86640" y="4900811"/>
            <a:ext cx="5249930" cy="728663"/>
          </a:xfrm>
          <a:prstGeom prst="roundRect">
            <a:avLst>
              <a:gd name="adj" fmla="val 3113"/>
            </a:avLst>
          </a:prstGeom>
          <a:solidFill>
            <a:srgbClr val="0D3E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846" y="5085953"/>
            <a:ext cx="189007" cy="1512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78059" y="5047456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Beachhead: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East African public referral hospitals — high volume, acute wait-time pain, willing pilot partners.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5506"/>
            <a:ext cx="1352119" cy="243979"/>
          </a:xfrm>
          <a:prstGeom prst="roundRect">
            <a:avLst>
              <a:gd name="adj" fmla="val 790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7814" y="923627"/>
            <a:ext cx="176902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7405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Land with Pilots, Expand Through Trust and Integration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661475" y="333186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26325" y="2849910"/>
            <a:ext cx="19050" cy="482005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55177" y="3151138"/>
            <a:ext cx="361445" cy="36145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15351" y="318120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22106" y="1880890"/>
            <a:ext cx="5027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 · 0–6 Months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106" y="2213769"/>
            <a:ext cx="50277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MVP → single-hospital pilot with MOH or referral hospital partner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6124" y="3331815"/>
            <a:ext cx="19050" cy="482005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14976" y="3151138"/>
            <a:ext cx="361445" cy="36145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75151" y="318120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3581906" y="3974505"/>
            <a:ext cx="5027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 · 6–18 Months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81906" y="4307384"/>
            <a:ext cx="50277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3–5 hospital network rollout; publish outcomes on wait time, LWBS, and acuity accuracy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46023" y="2849910"/>
            <a:ext cx="19050" cy="482005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74875" y="3151138"/>
            <a:ext cx="361445" cy="36145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5050" y="318120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41805" y="1880890"/>
            <a:ext cx="5027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 · 18–36 Months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41805" y="2213769"/>
            <a:ext cx="50277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expansion via faith-based &amp; private hospital groups across East Africa</a:t>
            </a:r>
            <a:endParaRPr lang="en-US" sz="12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699" y="4941342"/>
            <a:ext cx="240996" cy="2410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3551" y="4936430"/>
            <a:ext cx="298700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Integrate, Don't Replace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183551" y="5269309"/>
            <a:ext cx="298700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with incumbent HIS vendors (OpenMRS, local EMR) — sell workflow enhancement, not rip-and-replace.</a:t>
            </a:r>
            <a:endParaRPr lang="en-US" sz="12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1432" y="4941342"/>
            <a:ext cx="240996" cy="24100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863284" y="4936430"/>
            <a:ext cx="2987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Clinical Champions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4863284" y="5269309"/>
            <a:ext cx="298710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nurses &amp; ED medical officers serve as internal advocates to drive adoption.</a:t>
            </a:r>
            <a:endParaRPr lang="en-US" sz="12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1264" y="4941342"/>
            <a:ext cx="240996" cy="24100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543116" y="4936430"/>
            <a:ext cx="298700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 Regulatory Path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8543116" y="5269309"/>
            <a:ext cx="298700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as clinical decision support (CDS), not autonomous diagnosis.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39130"/>
            <a:ext cx="146274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195784"/>
            <a:ext cx="18455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0187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Recurring SaaS with Services — Aligned to Hospital Budgets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15565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Streams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639939"/>
            <a:ext cx="5203794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SaaS: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$4,000–$8,000/month per facility (tiered by bed count &amp; volume)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Implementation &amp; training: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$5,000–$15,000 one-time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Analytics+ module: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$1,500/month (forecasting, benchmarking)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Per-encounter fee: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$0.50–$1.00 for high-volume sites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966641"/>
            <a:ext cx="5476043" cy="2752130"/>
          </a:xfrm>
          <a:prstGeom prst="roundRect">
            <a:avLst>
              <a:gd name="adj" fmla="val 1030"/>
            </a:avLst>
          </a:prstGeom>
          <a:solidFill>
            <a:srgbClr val="66A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5658" y="315565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Unit Economics (Target)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639939"/>
            <a:ext cx="5098029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Gross margin: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75%+ (cloud-hosted, minimal field hardware)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CAC payback: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&lt; 12 months via pilot-to-contract conversion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LTV / CAC target: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4× with 3-year average contract length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First pilot: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Discounted or free to prove ROI metrics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72691"/>
            <a:ext cx="499752" cy="186630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06979" y="609501"/>
            <a:ext cx="96210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3360" y="791170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Better Outcomes, Equitable Access, Scalable for Underserved Systems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335356" y="1740297"/>
            <a:ext cx="40928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10K+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5233360" y="2266950"/>
            <a:ext cx="62968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Patient-Hours Saved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3360" y="2506762"/>
            <a:ext cx="62968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hospital annually (projected)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35356" y="2889945"/>
            <a:ext cx="40928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↓ LWBS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5233360" y="3416598"/>
            <a:ext cx="62968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Fewer Left Without Being Seen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33360" y="3656409"/>
            <a:ext cx="62968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cases — stroke, obstetric emergency, trauma — reach clinicians faster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33360" y="3908326"/>
            <a:ext cx="3108545" cy="997248"/>
          </a:xfrm>
          <a:prstGeom prst="roundRect">
            <a:avLst>
              <a:gd name="adj" fmla="val 1848"/>
            </a:avLst>
          </a:prstGeom>
          <a:solidFill>
            <a:srgbClr val="202733"/>
          </a:solidFill>
          <a:ln w="1270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68890" y="4043859"/>
            <a:ext cx="283748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Equity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68890" y="4283670"/>
            <a:ext cx="283748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protocol-driven prioritization for every patient, regardless of queue position or background.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21675" y="3908326"/>
            <a:ext cx="3108545" cy="997248"/>
          </a:xfrm>
          <a:prstGeom prst="roundRect">
            <a:avLst>
              <a:gd name="adj" fmla="val 1848"/>
            </a:avLst>
          </a:prstGeom>
          <a:solidFill>
            <a:srgbClr val="202733"/>
          </a:solidFill>
          <a:ln w="1270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7205" y="4043859"/>
            <a:ext cx="283748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SDG 3 Alignment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57205" y="4283670"/>
            <a:ext cx="2837486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contribution to universal health coverage goals — designed for public hospitals that cannot afford enterprise ED suites.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33360" y="4985345"/>
            <a:ext cx="6296860" cy="835124"/>
          </a:xfrm>
          <a:prstGeom prst="roundRect">
            <a:avLst>
              <a:gd name="adj" fmla="val 2207"/>
            </a:avLst>
          </a:prstGeom>
          <a:solidFill>
            <a:srgbClr val="202733"/>
          </a:solidFill>
          <a:ln w="1270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368890" y="5120878"/>
            <a:ext cx="60258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Architecture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68890" y="5360690"/>
            <a:ext cx="602580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Adaptable to local languages, clinical guidelines, and reduced staff burnout through smarter queue management.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233360" y="5910263"/>
            <a:ext cx="6296860" cy="375047"/>
          </a:xfrm>
          <a:prstGeom prst="roundRect">
            <a:avLst>
              <a:gd name="adj" fmla="val 4914"/>
            </a:avLst>
          </a:prstGeom>
          <a:solidFill>
            <a:srgbClr val="0D3E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190" y="6027440"/>
            <a:ext cx="153488" cy="12283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632508" y="6020693"/>
            <a:ext cx="638446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Impact thesis: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Every minute saved in pre-triage is a minute gained for saving lives.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857448"/>
            <a:ext cx="748190" cy="258465"/>
          </a:xfrm>
          <a:prstGeom prst="roundRect">
            <a:avLst>
              <a:gd name="adj" fmla="val 789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5355" y="908447"/>
            <a:ext cx="115378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ASK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117713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From Hackathon Prototype to Hospital-Grade Patient Flow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233360" y="2469952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are seeking a pilot hospital partner and seed support to validate a </a:t>
            </a:r>
            <a:r>
              <a:rPr lang="en-US" sz="13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30% time-to-triage reduction in 90 days.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3159323"/>
            <a:ext cx="3071835" cy="1731863"/>
          </a:xfrm>
          <a:prstGeom prst="roundRect">
            <a:avLst>
              <a:gd name="adj" fmla="val 147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03417" y="3329384"/>
            <a:ext cx="27317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Team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403417" y="3686870"/>
            <a:ext cx="273172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and engineering backgrounds with deep health systems expertise in emerging markets.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86" y="3159323"/>
            <a:ext cx="3071934" cy="1731863"/>
          </a:xfrm>
          <a:prstGeom prst="roundRect">
            <a:avLst>
              <a:gd name="adj" fmla="val 147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28343" y="3329384"/>
            <a:ext cx="27318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Ask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28343" y="3686870"/>
            <a:ext cx="27318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referral hospital pilot · $150K seed funding · 90-day outcome study with published results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5044281"/>
            <a:ext cx="6296860" cy="956171"/>
          </a:xfrm>
          <a:prstGeom prst="roundRect">
            <a:avLst>
              <a:gd name="adj" fmla="val 266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03417" y="5214342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Get in Touch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03417" y="5571827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Live demo available today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953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</vt:lpstr>
      <vt:lpstr>Roboto Bold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steven kikwa</cp:lastModifiedBy>
  <cp:revision>2</cp:revision>
  <dcterms:created xsi:type="dcterms:W3CDTF">2026-08-29T02:46:40Z</dcterms:created>
  <dcterms:modified xsi:type="dcterms:W3CDTF">2026-08-29T03:05:25Z</dcterms:modified>
</cp:coreProperties>
</file>